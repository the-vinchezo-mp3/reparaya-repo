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4630400" cy="8229600"/>
  <p:notesSz cx="8229600" cy="14630400"/>
  <p:embeddedFontLst>
    <p:embeddedFont>
      <p:font typeface="PT Serif"/>
      <p:regular r:id="rId18"/>
    </p:embeddedFont>
    <p:embeddedFont>
      <p:font typeface="PT Serif"/>
      <p:regular r:id="rId19"/>
    </p:embeddedFont>
    <p:embeddedFont>
      <p:font typeface="PT Serif"/>
      <p:regular r:id="rId20"/>
    </p:embeddedFont>
    <p:embeddedFont>
      <p:font typeface="PT Serif"/>
      <p:regular r:id="rId21"/>
    </p:embeddedFont>
    <p:embeddedFont>
      <p:font typeface="DM Sans"/>
      <p:regular r:id="rId22"/>
    </p:embeddedFont>
    <p:embeddedFont>
      <p:font typeface="DM Sans"/>
      <p:regular r:id="rId23"/>
    </p:embeddedFont>
    <p:embeddedFont>
      <p:font typeface="DM Sans"/>
      <p:regular r:id="rId24"/>
    </p:embeddedFont>
    <p:embeddedFont>
      <p:font typeface="DM Sans"/>
      <p:regular r:id="rId2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Relationship Id="rId24" Type="http://schemas.openxmlformats.org/officeDocument/2006/relationships/font" Target="fonts/font7.fntdata"/><Relationship Id="rId25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sv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svg"/><Relationship Id="rId19" Type="http://schemas.openxmlformats.org/officeDocument/2006/relationships/slideLayout" Target="../slideLayouts/slideLayout5.xml"/><Relationship Id="rId2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6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slideLayout" Target="../slideLayouts/slideLayout8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sv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sv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svg"/><Relationship Id="rId22" Type="http://schemas.openxmlformats.org/officeDocument/2006/relationships/slideLayout" Target="../slideLayouts/slideLayout11.xml"/><Relationship Id="rId2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963948"/>
            <a:ext cx="10304859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Proyecto: Agente Inteligente ReparaYA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504836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Estudiantes: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Vicente Sanchez y Felipe Caceres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49056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Asignatura: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ISY0101 – Ingeniería de Soluciones con IA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93276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Contexto: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ReparaYA, un taller mecánico que busca digitalizar procedimientos y mejorar su asistencia técnica interna.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637496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Objetivo Principal: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Implementar un agente inteligente con LLM + RAG para proporcionar soporte técnico mecánico avanzado.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47668"/>
            <a:ext cx="10999589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El Problema Actual en Talleres Mecánicos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432090"/>
            <a:ext cx="6407944" cy="2111454"/>
          </a:xfrm>
          <a:prstGeom prst="roundRect">
            <a:avLst>
              <a:gd name="adj" fmla="val 692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432090"/>
            <a:ext cx="121920" cy="2111454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689384"/>
            <a:ext cx="331077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Documentación Dispersa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42524" y="3197542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información técnica esencial (manuales, PDFs, imágenes) se encuentra fragmentada y desorganizada, dificultando su acceso y uso.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432090"/>
            <a:ext cx="6408063" cy="2111454"/>
          </a:xfrm>
          <a:prstGeom prst="roundRect">
            <a:avLst>
              <a:gd name="adj" fmla="val 692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2432090"/>
            <a:ext cx="121920" cy="2111454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2689384"/>
            <a:ext cx="334827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Dependencia de Expertos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777282" y="3197542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 mecánicos nuevos dependen en exceso del conocimiento de los técnicos senior, lo que ralentiza la formación y la operativa.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770358"/>
            <a:ext cx="6407944" cy="2111454"/>
          </a:xfrm>
          <a:prstGeom prst="roundRect">
            <a:avLst>
              <a:gd name="adj" fmla="val 692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4770358"/>
            <a:ext cx="121920" cy="2111454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502765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Diagnósticos Lentos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142524" y="5535811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falta de información estandarizada y accesible prolonga los tiempos de diagnóstico y reparación.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770358"/>
            <a:ext cx="6408063" cy="2111454"/>
          </a:xfrm>
          <a:prstGeom prst="roundRect">
            <a:avLst>
              <a:gd name="adj" fmla="val 692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4770358"/>
            <a:ext cx="121920" cy="2111454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502765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Consultas Repetitivas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777282" y="5535811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personal invierte tiempo en consultas recurrentes sobre torques, repuestos específicos y procedimientos básicos.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11605"/>
            <a:ext cx="11509534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 Solución Propuesta: Agente Inteligente con LLM + RAG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793790" y="2224921"/>
            <a:ext cx="680442" cy="1020723"/>
          </a:xfrm>
          <a:prstGeom prst="roundRect">
            <a:avLst>
              <a:gd name="adj" fmla="val 360022"/>
            </a:avLst>
          </a:prstGeom>
          <a:solidFill>
            <a:srgbClr val="F2EEE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6435" y="2607707"/>
            <a:ext cx="255151" cy="2551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4253" y="2394942"/>
            <a:ext cx="2306122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Respuestas Verificables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644253" y="2775942"/>
            <a:ext cx="1219235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Basadas en documentación oficial del taller para asegurar precisión y confianza.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93790" y="3415665"/>
            <a:ext cx="680442" cy="1020723"/>
          </a:xfrm>
          <a:prstGeom prst="roundRect">
            <a:avLst>
              <a:gd name="adj" fmla="val 360022"/>
            </a:avLst>
          </a:prstGeom>
          <a:solidFill>
            <a:srgbClr val="F2EEE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6435" y="3798451"/>
            <a:ext cx="255151" cy="2551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4253" y="3585686"/>
            <a:ext cx="2359938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Módulos Especializados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1644253" y="3966686"/>
            <a:ext cx="1219235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Funcionalidades de diagnóstico, búsqueda de repuestos y cálculos mecánicos integrados.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93790" y="4606409"/>
            <a:ext cx="680442" cy="1020723"/>
          </a:xfrm>
          <a:prstGeom prst="roundRect">
            <a:avLst>
              <a:gd name="adj" fmla="val 360022"/>
            </a:avLst>
          </a:prstGeom>
          <a:solidFill>
            <a:srgbClr val="F2EEE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6435" y="4989195"/>
            <a:ext cx="255151" cy="25515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44253" y="4776430"/>
            <a:ext cx="2460188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Memoria Conversacional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1644253" y="5157430"/>
            <a:ext cx="1219235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Capacidad para mantener el contexto de la conversación y asegurar la trazabilidad de cada interacción.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93790" y="5797153"/>
            <a:ext cx="680442" cy="1020723"/>
          </a:xfrm>
          <a:prstGeom prst="roundRect">
            <a:avLst>
              <a:gd name="adj" fmla="val 360022"/>
            </a:avLst>
          </a:prstGeom>
          <a:solidFill>
            <a:srgbClr val="F2EEEE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6435" y="6179939"/>
            <a:ext cx="255151" cy="25515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44253" y="5967174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Arquitectura Robustez</a:t>
            </a: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1644253" y="6348174"/>
            <a:ext cx="1219235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Diseñada para ser escalable, segura y explicable, adaptándose a futuras necesidades.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83080"/>
            <a:ext cx="900779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Arquitectura General del Agente ReparaYA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3107650" y="2795826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LLM Central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793790" y="3202305"/>
            <a:ext cx="469546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Large Language Model para razonamiento controlado y generación de respuestas.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9258" y="2722602"/>
            <a:ext cx="3651885" cy="365188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7268" y="3606522"/>
            <a:ext cx="255151" cy="2551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1143" y="2650688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Pipeline RAG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9141143" y="3057168"/>
            <a:ext cx="4695468" cy="870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Retrieval Augmented Generation para evitar alucinaciones, garantizando respuestas basadas en datos reales.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9258" y="2722602"/>
            <a:ext cx="3651885" cy="365188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57743" y="3606522"/>
            <a:ext cx="255151" cy="25515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04045" y="4200168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Vector Store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9504045" y="4606647"/>
            <a:ext cx="4332565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Almacén de vectores con embeddings de la documentación técnica.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9258" y="2722602"/>
            <a:ext cx="3651885" cy="3651885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27921" y="4420910"/>
            <a:ext cx="255151" cy="25515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141143" y="5459373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Tools Internas</a:t>
            </a:r>
            <a:endParaRPr lang="en-US" sz="1850" dirty="0"/>
          </a:p>
        </p:txBody>
      </p:sp>
      <p:sp>
        <p:nvSpPr>
          <p:cNvPr id="16" name="Text 8"/>
          <p:cNvSpPr/>
          <p:nvPr/>
        </p:nvSpPr>
        <p:spPr>
          <a:xfrm>
            <a:off x="9141143" y="5865852"/>
            <a:ext cx="469546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Herramientas específicas para funciones mecánicas (cálculos, diagnósticos).</a:t>
            </a:r>
            <a:endParaRPr lang="en-US" sz="14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9258" y="2722602"/>
            <a:ext cx="3651885" cy="3651885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57743" y="5235178"/>
            <a:ext cx="255151" cy="255151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3107650" y="5459373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Memoria Híbrida</a:t>
            </a:r>
            <a:endParaRPr lang="en-US" sz="1850" dirty="0"/>
          </a:p>
        </p:txBody>
      </p:sp>
      <p:sp>
        <p:nvSpPr>
          <p:cNvPr id="20" name="Text 10"/>
          <p:cNvSpPr/>
          <p:nvPr/>
        </p:nvSpPr>
        <p:spPr>
          <a:xfrm>
            <a:off x="793790" y="5865852"/>
            <a:ext cx="469546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Combinación de memoria a corto y largo plazo para mantener el contexto y aprender.</a:t>
            </a:r>
            <a:endParaRPr lang="en-US" sz="140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89258" y="2722602"/>
            <a:ext cx="3651885" cy="3651885"/>
          </a:xfrm>
          <a:prstGeom prst="rect">
            <a:avLst/>
          </a:prstGeom>
        </p:spPr>
      </p:pic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717268" y="5235178"/>
            <a:ext cx="255151" cy="255151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2744748" y="4200168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Seguridad y Auditoría</a:t>
            </a:r>
            <a:endParaRPr lang="en-US" sz="1850" dirty="0"/>
          </a:p>
        </p:txBody>
      </p:sp>
      <p:sp>
        <p:nvSpPr>
          <p:cNvPr id="24" name="Text 12"/>
          <p:cNvSpPr/>
          <p:nvPr/>
        </p:nvSpPr>
        <p:spPr>
          <a:xfrm>
            <a:off x="793790" y="4606647"/>
            <a:ext cx="4332565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Componentes para garantizar la seguridad de los datos y la trazabilidad de las operaciones.</a:t>
            </a:r>
            <a:endParaRPr lang="en-US" sz="1400" dirty="0"/>
          </a:p>
        </p:txBody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89258" y="2722602"/>
            <a:ext cx="3651885" cy="3651885"/>
          </a:xfrm>
          <a:prstGeom prst="rect">
            <a:avLst/>
          </a:prstGeom>
        </p:spPr>
      </p:pic>
      <p:pic>
        <p:nvPicPr>
          <p:cNvPr id="26" name="Image 11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247090" y="4420910"/>
            <a:ext cx="255151" cy="2551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4512"/>
            <a:ext cx="11204853" cy="669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Pipeline RAG: Detalle Técnico para la Precisión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93790" y="1830467"/>
            <a:ext cx="13042821" cy="5544503"/>
          </a:xfrm>
          <a:prstGeom prst="roundRect">
            <a:avLst>
              <a:gd name="adj" fmla="val 552"/>
            </a:avLst>
          </a:prstGeom>
          <a:solidFill>
            <a:srgbClr val="F2EEEE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1830467"/>
            <a:ext cx="4347567" cy="2172176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997863" y="2034540"/>
            <a:ext cx="2798445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Ingesta de Documentos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97863" y="2491740"/>
            <a:ext cx="3633192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Recopilación y preparación de toda la documentación técnica del taller.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141357" y="1830467"/>
            <a:ext cx="4347567" cy="2172176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8" name="Shape 6"/>
          <p:cNvSpPr/>
          <p:nvPr/>
        </p:nvSpPr>
        <p:spPr>
          <a:xfrm>
            <a:off x="5141357" y="1830467"/>
            <a:ext cx="22860" cy="2172176"/>
          </a:xfrm>
          <a:prstGeom prst="roundRect">
            <a:avLst>
              <a:gd name="adj" fmla="val 133954"/>
            </a:avLst>
          </a:prstGeom>
          <a:solidFill>
            <a:srgbClr val="D8D4D4"/>
          </a:solidFill>
          <a:ln/>
        </p:spPr>
      </p:sp>
      <p:sp>
        <p:nvSpPr>
          <p:cNvPr id="9" name="Text 7"/>
          <p:cNvSpPr/>
          <p:nvPr/>
        </p:nvSpPr>
        <p:spPr>
          <a:xfrm>
            <a:off x="5651659" y="2034540"/>
            <a:ext cx="267938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Limpieza y Chunking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651659" y="2491740"/>
            <a:ext cx="3326963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Proceso dinámico de limpieza y división de texto en fragmentos (chunks) de 350-500 tokens para optimización.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86206" y="2661404"/>
            <a:ext cx="510302" cy="510302"/>
          </a:xfrm>
          <a:prstGeom prst="roundRect">
            <a:avLst>
              <a:gd name="adj" fmla="val 600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13722" y="2788920"/>
            <a:ext cx="255151" cy="255151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488924" y="1830467"/>
            <a:ext cx="4347567" cy="2172176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4" name="Shape 11"/>
          <p:cNvSpPr/>
          <p:nvPr/>
        </p:nvSpPr>
        <p:spPr>
          <a:xfrm>
            <a:off x="9488924" y="1830467"/>
            <a:ext cx="22860" cy="2172176"/>
          </a:xfrm>
          <a:prstGeom prst="roundRect">
            <a:avLst>
              <a:gd name="adj" fmla="val 133954"/>
            </a:avLst>
          </a:prstGeom>
          <a:solidFill>
            <a:srgbClr val="D8D4D4"/>
          </a:solidFill>
          <a:ln/>
        </p:spPr>
      </p:sp>
      <p:sp>
        <p:nvSpPr>
          <p:cNvPr id="15" name="Text 12"/>
          <p:cNvSpPr/>
          <p:nvPr/>
        </p:nvSpPr>
        <p:spPr>
          <a:xfrm>
            <a:off x="9999226" y="2034540"/>
            <a:ext cx="323933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Generación de Embeddings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9999226" y="2491740"/>
            <a:ext cx="3633192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Uso del modelo 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text-embedding-3-large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para crear representaciones vectoriales del texto.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9233773" y="2661404"/>
            <a:ext cx="510302" cy="510302"/>
          </a:xfrm>
          <a:prstGeom prst="roundRect">
            <a:avLst>
              <a:gd name="adj" fmla="val 600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61289" y="2788920"/>
            <a:ext cx="255151" cy="25515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93790" y="4002643"/>
            <a:ext cx="4347567" cy="2180273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0" name="Shape 16"/>
          <p:cNvSpPr/>
          <p:nvPr/>
        </p:nvSpPr>
        <p:spPr>
          <a:xfrm>
            <a:off x="793790" y="4002643"/>
            <a:ext cx="4347567" cy="22860"/>
          </a:xfrm>
          <a:prstGeom prst="roundRect">
            <a:avLst>
              <a:gd name="adj" fmla="val 133954"/>
            </a:avLst>
          </a:prstGeom>
          <a:solidFill>
            <a:srgbClr val="D8D4D4"/>
          </a:solidFill>
          <a:ln/>
        </p:spPr>
      </p:sp>
      <p:sp>
        <p:nvSpPr>
          <p:cNvPr id="21" name="Text 17"/>
          <p:cNvSpPr/>
          <p:nvPr/>
        </p:nvSpPr>
        <p:spPr>
          <a:xfrm>
            <a:off x="997863" y="4206716"/>
            <a:ext cx="3633192" cy="669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Almacenamiento en Vector Store</a:t>
            </a:r>
            <a:endParaRPr lang="en-US" sz="2100" dirty="0"/>
          </a:p>
        </p:txBody>
      </p:sp>
      <p:sp>
        <p:nvSpPr>
          <p:cNvPr id="22" name="Text 18"/>
          <p:cNvSpPr/>
          <p:nvPr/>
        </p:nvSpPr>
        <p:spPr>
          <a:xfrm>
            <a:off x="997863" y="4998720"/>
            <a:ext cx="3633192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Guardado eficiente de los embeddings en una base de datos vectorial (FAISS).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141357" y="4002643"/>
            <a:ext cx="4347567" cy="2180273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4" name="Shape 20"/>
          <p:cNvSpPr/>
          <p:nvPr/>
        </p:nvSpPr>
        <p:spPr>
          <a:xfrm>
            <a:off x="5141357" y="4002643"/>
            <a:ext cx="22860" cy="2180273"/>
          </a:xfrm>
          <a:prstGeom prst="roundRect">
            <a:avLst>
              <a:gd name="adj" fmla="val 133954"/>
            </a:avLst>
          </a:prstGeom>
          <a:solidFill>
            <a:srgbClr val="D8D4D4"/>
          </a:solidFill>
          <a:ln/>
        </p:spPr>
      </p:sp>
      <p:sp>
        <p:nvSpPr>
          <p:cNvPr id="25" name="Shape 21"/>
          <p:cNvSpPr/>
          <p:nvPr/>
        </p:nvSpPr>
        <p:spPr>
          <a:xfrm>
            <a:off x="5141357" y="4002643"/>
            <a:ext cx="4347567" cy="22860"/>
          </a:xfrm>
          <a:prstGeom prst="roundRect">
            <a:avLst>
              <a:gd name="adj" fmla="val 133954"/>
            </a:avLst>
          </a:prstGeom>
          <a:solidFill>
            <a:srgbClr val="D8D4D4"/>
          </a:solidFill>
          <a:ln/>
        </p:spPr>
      </p:sp>
      <p:sp>
        <p:nvSpPr>
          <p:cNvPr id="26" name="Text 22"/>
          <p:cNvSpPr/>
          <p:nvPr/>
        </p:nvSpPr>
        <p:spPr>
          <a:xfrm>
            <a:off x="5651659" y="4206716"/>
            <a:ext cx="3098244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Recuperación y Reranking</a:t>
            </a:r>
            <a:endParaRPr lang="en-US" sz="2100" dirty="0"/>
          </a:p>
        </p:txBody>
      </p:sp>
      <p:sp>
        <p:nvSpPr>
          <p:cNvPr id="27" name="Text 23"/>
          <p:cNvSpPr/>
          <p:nvPr/>
        </p:nvSpPr>
        <p:spPr>
          <a:xfrm>
            <a:off x="5651659" y="4663916"/>
            <a:ext cx="3326963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Búsqueda de los Top-K documentos más relevantes y reranking semántico para afinar la selección.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4886206" y="4837628"/>
            <a:ext cx="510302" cy="510302"/>
          </a:xfrm>
          <a:prstGeom prst="roundRect">
            <a:avLst>
              <a:gd name="adj" fmla="val 600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13722" y="4965144"/>
            <a:ext cx="255151" cy="255151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9488924" y="4002643"/>
            <a:ext cx="4347567" cy="2180273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31" name="Shape 26"/>
          <p:cNvSpPr/>
          <p:nvPr/>
        </p:nvSpPr>
        <p:spPr>
          <a:xfrm>
            <a:off x="9488924" y="4002643"/>
            <a:ext cx="22860" cy="2180273"/>
          </a:xfrm>
          <a:prstGeom prst="roundRect">
            <a:avLst>
              <a:gd name="adj" fmla="val 133954"/>
            </a:avLst>
          </a:prstGeom>
          <a:solidFill>
            <a:srgbClr val="D8D4D4"/>
          </a:solidFill>
          <a:ln/>
        </p:spPr>
      </p:sp>
      <p:sp>
        <p:nvSpPr>
          <p:cNvPr id="32" name="Shape 27"/>
          <p:cNvSpPr/>
          <p:nvPr/>
        </p:nvSpPr>
        <p:spPr>
          <a:xfrm>
            <a:off x="9488924" y="4002643"/>
            <a:ext cx="4347567" cy="22860"/>
          </a:xfrm>
          <a:prstGeom prst="roundRect">
            <a:avLst>
              <a:gd name="adj" fmla="val 133954"/>
            </a:avLst>
          </a:prstGeom>
          <a:solidFill>
            <a:srgbClr val="D8D4D4"/>
          </a:solidFill>
          <a:ln/>
        </p:spPr>
      </p:sp>
      <p:sp>
        <p:nvSpPr>
          <p:cNvPr id="33" name="Text 28"/>
          <p:cNvSpPr/>
          <p:nvPr/>
        </p:nvSpPr>
        <p:spPr>
          <a:xfrm>
            <a:off x="9999226" y="4206716"/>
            <a:ext cx="3069550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Contexto en Prompt Final</a:t>
            </a:r>
            <a:endParaRPr lang="en-US" sz="2100" dirty="0"/>
          </a:p>
        </p:txBody>
      </p:sp>
      <p:sp>
        <p:nvSpPr>
          <p:cNvPr id="34" name="Text 29"/>
          <p:cNvSpPr/>
          <p:nvPr/>
        </p:nvSpPr>
        <p:spPr>
          <a:xfrm>
            <a:off x="9999226" y="4663916"/>
            <a:ext cx="3633192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Integración del contexto recuperado en el prompt para el LLM, asegurando respuestas fundamentadas.</a:t>
            </a:r>
            <a:endParaRPr lang="en-US" sz="1600" dirty="0"/>
          </a:p>
        </p:txBody>
      </p:sp>
      <p:sp>
        <p:nvSpPr>
          <p:cNvPr id="35" name="Shape 30"/>
          <p:cNvSpPr/>
          <p:nvPr/>
        </p:nvSpPr>
        <p:spPr>
          <a:xfrm>
            <a:off x="9233773" y="4837628"/>
            <a:ext cx="510302" cy="510302"/>
          </a:xfrm>
          <a:prstGeom prst="roundRect">
            <a:avLst>
              <a:gd name="adj" fmla="val 600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61289" y="4965144"/>
            <a:ext cx="255151" cy="255151"/>
          </a:xfrm>
          <a:prstGeom prst="rect">
            <a:avLst/>
          </a:prstGeom>
        </p:spPr>
      </p:pic>
      <p:sp>
        <p:nvSpPr>
          <p:cNvPr id="37" name="Shape 31"/>
          <p:cNvSpPr/>
          <p:nvPr/>
        </p:nvSpPr>
        <p:spPr>
          <a:xfrm>
            <a:off x="793790" y="6182916"/>
            <a:ext cx="13042702" cy="1192054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38" name="Shape 32"/>
          <p:cNvSpPr/>
          <p:nvPr/>
        </p:nvSpPr>
        <p:spPr>
          <a:xfrm>
            <a:off x="793790" y="6182916"/>
            <a:ext cx="13042702" cy="22860"/>
          </a:xfrm>
          <a:prstGeom prst="roundRect">
            <a:avLst>
              <a:gd name="adj" fmla="val 133954"/>
            </a:avLst>
          </a:prstGeom>
          <a:solidFill>
            <a:srgbClr val="D8D4D4"/>
          </a:solidFill>
          <a:ln/>
        </p:spPr>
      </p:sp>
      <p:sp>
        <p:nvSpPr>
          <p:cNvPr id="39" name="Text 33"/>
          <p:cNvSpPr/>
          <p:nvPr/>
        </p:nvSpPr>
        <p:spPr>
          <a:xfrm>
            <a:off x="997863" y="6386989"/>
            <a:ext cx="3354348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Seguridad de la Información</a:t>
            </a:r>
            <a:endParaRPr lang="en-US" sz="2100" dirty="0"/>
          </a:p>
        </p:txBody>
      </p:sp>
      <p:sp>
        <p:nvSpPr>
          <p:cNvPr id="40" name="Text 34"/>
          <p:cNvSpPr/>
          <p:nvPr/>
        </p:nvSpPr>
        <p:spPr>
          <a:xfrm>
            <a:off x="997863" y="6844189"/>
            <a:ext cx="12328327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Estricta política de NO usar información externa, garantizando la fiabilidad y confidencialidad.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6031"/>
            <a:ext cx="11775281" cy="706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Formulación de Prompts para una IA Confiable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419106"/>
            <a:ext cx="5705237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Prompt Maestro: Pilares de Confianza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166461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Reglas estrictas para el uso del contexto proporcionado.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93790" y="2586633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Prohibición explícita de inventar o "alucinar" datos.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93790" y="3006804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Estructura de respuesta definida: explicación, pasos, riesgos y fuente de información.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93790" y="3674745"/>
            <a:ext cx="3735824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Ejemplos de Subprompts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93790" y="4422100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Estos prompts específicos guían al agente en tareas concretas: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93790" y="5009317"/>
            <a:ext cx="4203978" cy="646390"/>
          </a:xfrm>
          <a:prstGeom prst="roundRect">
            <a:avLst>
              <a:gd name="adj" fmla="val 480052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2734151" y="5130522"/>
            <a:ext cx="323136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09174" y="5871091"/>
            <a:ext cx="3234452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Diagnóstico por Síntomas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9174" y="6353651"/>
            <a:ext cx="3773210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Guía al agente para identificar fallas a partir de descripciones de síntomas.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213152" y="5009317"/>
            <a:ext cx="4203978" cy="646390"/>
          </a:xfrm>
          <a:prstGeom prst="roundRect">
            <a:avLst>
              <a:gd name="adj" fmla="val 480052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7153513" y="5130522"/>
            <a:ext cx="323136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5428536" y="5871091"/>
            <a:ext cx="3312438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Recuperación Documental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28536" y="6353651"/>
            <a:ext cx="3773210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Solicita al agente extraer información precisa de manuales o documentos.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632513" y="5009317"/>
            <a:ext cx="4203978" cy="646390"/>
          </a:xfrm>
          <a:prstGeom prst="roundRect">
            <a:avLst>
              <a:gd name="adj" fmla="val 480052"/>
            </a:avLst>
          </a:prstGeom>
          <a:solidFill>
            <a:srgbClr val="F2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11572875" y="5130522"/>
            <a:ext cx="323136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9847898" y="5871091"/>
            <a:ext cx="3550801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Generación de Presupuestos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847898" y="6353651"/>
            <a:ext cx="3773210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Instruye al agente para crear presupuestos técnicos detallados y personalizados.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1512"/>
            <a:ext cx="12236172" cy="669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Herramientas del Agente: Potenciando la Operativa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93790" y="1749623"/>
            <a:ext cx="4211479" cy="612338"/>
          </a:xfrm>
          <a:prstGeom prst="roundRect">
            <a:avLst>
              <a:gd name="adj" fmla="val 480076"/>
            </a:avLst>
          </a:prstGeom>
          <a:solidFill>
            <a:srgbClr val="F2EEE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6415" y="1902619"/>
            <a:ext cx="306110" cy="3061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97863" y="2566035"/>
            <a:ext cx="306419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Diagnóstico por Síntomas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997863" y="3023235"/>
            <a:ext cx="3803333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Identifica problemas a partir de descripciones como vibraciones, ruidos o fallas eléctricas.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209342" y="1749623"/>
            <a:ext cx="4211598" cy="612338"/>
          </a:xfrm>
          <a:prstGeom prst="roundRect">
            <a:avLst>
              <a:gd name="adj" fmla="val 480076"/>
            </a:avLst>
          </a:prstGeom>
          <a:solidFill>
            <a:srgbClr val="F2EEE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62086" y="1902619"/>
            <a:ext cx="306110" cy="30611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13415" y="2566035"/>
            <a:ext cx="267938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Cálculo de Torque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5413415" y="3023235"/>
            <a:ext cx="3803452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Determina el torque exacto según el motor y el fabricante del vehículo.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9625013" y="1749623"/>
            <a:ext cx="4211598" cy="612338"/>
          </a:xfrm>
          <a:prstGeom prst="roundRect">
            <a:avLst>
              <a:gd name="adj" fmla="val 480076"/>
            </a:avLst>
          </a:prstGeom>
          <a:solidFill>
            <a:srgbClr val="F2EEE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77757" y="1902619"/>
            <a:ext cx="306110" cy="30611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829086" y="2566035"/>
            <a:ext cx="2787491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Búsqueda de Repuestos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9829086" y="3023235"/>
            <a:ext cx="3803452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Encuentra repuestos compatibles y optimiza la gestión de inventario.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793790" y="4411504"/>
            <a:ext cx="4211479" cy="612338"/>
          </a:xfrm>
          <a:prstGeom prst="roundRect">
            <a:avLst>
              <a:gd name="adj" fmla="val 480076"/>
            </a:avLst>
          </a:prstGeom>
          <a:solidFill>
            <a:srgbClr val="F2EEEE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46415" y="4564499"/>
            <a:ext cx="306110" cy="30611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97863" y="5227915"/>
            <a:ext cx="325088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Generador de Presupuestos</a:t>
            </a:r>
            <a:endParaRPr lang="en-US" sz="2100" dirty="0"/>
          </a:p>
        </p:txBody>
      </p:sp>
      <p:sp>
        <p:nvSpPr>
          <p:cNvPr id="18" name="Text 12"/>
          <p:cNvSpPr/>
          <p:nvPr/>
        </p:nvSpPr>
        <p:spPr>
          <a:xfrm>
            <a:off x="997863" y="5685115"/>
            <a:ext cx="3803333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 automáticamente presupuestos detallados y profesionales.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5209342" y="4411504"/>
            <a:ext cx="4211598" cy="612338"/>
          </a:xfrm>
          <a:prstGeom prst="roundRect">
            <a:avLst>
              <a:gd name="adj" fmla="val 480076"/>
            </a:avLst>
          </a:prstGeom>
          <a:solidFill>
            <a:srgbClr val="F2EEEE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62086" y="4564499"/>
            <a:ext cx="306110" cy="30611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413415" y="5227915"/>
            <a:ext cx="2865120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Analizador de Manuales</a:t>
            </a:r>
            <a:endParaRPr lang="en-US" sz="2100" dirty="0"/>
          </a:p>
        </p:txBody>
      </p:sp>
      <p:sp>
        <p:nvSpPr>
          <p:cNvPr id="22" name="Text 15"/>
          <p:cNvSpPr/>
          <p:nvPr/>
        </p:nvSpPr>
        <p:spPr>
          <a:xfrm>
            <a:off x="5413415" y="5685115"/>
            <a:ext cx="3803452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Procesa y extrae información clave de extensos manuales técnicos.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099899" y="7001708"/>
            <a:ext cx="1273671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Beneficios clave: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Mayor autonomía, precisión en las operaciones y reducción significativa de errores humanos.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793790" y="6772156"/>
            <a:ext cx="22860" cy="785813"/>
          </a:xfrm>
          <a:prstGeom prst="rect">
            <a:avLst/>
          </a:prstGeom>
          <a:solidFill>
            <a:srgbClr val="E04F0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33989"/>
            <a:ext cx="12022931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Memoria y Flujo de Razonamiento del Agente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518410"/>
            <a:ext cx="6407944" cy="4277082"/>
          </a:xfrm>
          <a:prstGeom prst="roundRect">
            <a:avLst>
              <a:gd name="adj" fmla="val 79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2548890"/>
            <a:ext cx="6346984" cy="68044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1051084" y="345614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Memoria Híbrida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51084" y="3964305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Almacena las últimas 6 interacciones para mantener la coherencia conversacional.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51084" y="4826198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Conserva resúmenes semánticos de conversaciones pasadas, facilitando un aprendizaje continuo.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518410"/>
            <a:ext cx="6408063" cy="4277082"/>
          </a:xfrm>
          <a:prstGeom prst="roundRect">
            <a:avLst>
              <a:gd name="adj" fmla="val 79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59027" y="2548890"/>
            <a:ext cx="6347103" cy="68044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7685842" y="3456146"/>
            <a:ext cx="305252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Flujo de Razonamiento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685842" y="3964305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Interpretar Consulta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685842" y="4406503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Planificar Pasos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685842" y="4848701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Recuperar Documentos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685842" y="5290899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Ejecutar Herramientas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685842" y="5733098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5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Validar Riesgos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685842" y="6175296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6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Respuesta Final con Trazabilidad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5013"/>
            <a:ext cx="12756952" cy="669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Observabilidad del Sistema: Monitorización Continua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93790" y="2030968"/>
            <a:ext cx="6419374" cy="1564481"/>
          </a:xfrm>
          <a:prstGeom prst="roundRect">
            <a:avLst>
              <a:gd name="adj" fmla="val 7014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0930" y="2030968"/>
            <a:ext cx="91440" cy="1564481"/>
          </a:xfrm>
          <a:prstGeom prst="roundRect">
            <a:avLst>
              <a:gd name="adj" fmla="val 33488"/>
            </a:avLst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1089303" y="2257901"/>
            <a:ext cx="267938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Precisión Técnica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89303" y="2715101"/>
            <a:ext cx="5896928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Fiabilidad de las respuestas en relación con la documentación oficial.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17237" y="2030968"/>
            <a:ext cx="6419374" cy="1564481"/>
          </a:xfrm>
          <a:prstGeom prst="roundRect">
            <a:avLst>
              <a:gd name="adj" fmla="val 7014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4377" y="2030968"/>
            <a:ext cx="91440" cy="1564481"/>
          </a:xfrm>
          <a:prstGeom prst="roundRect">
            <a:avLst>
              <a:gd name="adj" fmla="val 33488"/>
            </a:avLst>
          </a:prstGeom>
          <a:solidFill>
            <a:srgbClr val="E04F00"/>
          </a:solidFill>
          <a:ln/>
        </p:spPr>
      </p:sp>
      <p:sp>
        <p:nvSpPr>
          <p:cNvPr id="9" name="Text 7"/>
          <p:cNvSpPr/>
          <p:nvPr/>
        </p:nvSpPr>
        <p:spPr>
          <a:xfrm>
            <a:off x="7712750" y="2257901"/>
            <a:ext cx="267938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Latencia Promedio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712750" y="2715101"/>
            <a:ext cx="589692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Tiempo de respuesta del agente a las consultas.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3790" y="3799523"/>
            <a:ext cx="6419374" cy="1237774"/>
          </a:xfrm>
          <a:prstGeom prst="roundRect">
            <a:avLst>
              <a:gd name="adj" fmla="val 8865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0930" y="3799523"/>
            <a:ext cx="91440" cy="1237774"/>
          </a:xfrm>
          <a:prstGeom prst="roundRect">
            <a:avLst>
              <a:gd name="adj" fmla="val 33488"/>
            </a:avLst>
          </a:prstGeom>
          <a:solidFill>
            <a:srgbClr val="E04F00"/>
          </a:solidFill>
          <a:ln/>
        </p:spPr>
      </p:sp>
      <p:sp>
        <p:nvSpPr>
          <p:cNvPr id="13" name="Text 11"/>
          <p:cNvSpPr/>
          <p:nvPr/>
        </p:nvSpPr>
        <p:spPr>
          <a:xfrm>
            <a:off x="1089303" y="4026456"/>
            <a:ext cx="3256836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Consistencia de Respuestas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89303" y="4483656"/>
            <a:ext cx="589692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Uniformidad y coherencia en las soluciones propuestas.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417237" y="3799523"/>
            <a:ext cx="6419374" cy="1237774"/>
          </a:xfrm>
          <a:prstGeom prst="roundRect">
            <a:avLst>
              <a:gd name="adj" fmla="val 8865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4377" y="3799523"/>
            <a:ext cx="91440" cy="1237774"/>
          </a:xfrm>
          <a:prstGeom prst="roundRect">
            <a:avLst>
              <a:gd name="adj" fmla="val 33488"/>
            </a:avLst>
          </a:prstGeom>
          <a:solidFill>
            <a:srgbClr val="E04F00"/>
          </a:solidFill>
          <a:ln/>
        </p:spPr>
      </p:sp>
      <p:sp>
        <p:nvSpPr>
          <p:cNvPr id="17" name="Text 15"/>
          <p:cNvSpPr/>
          <p:nvPr/>
        </p:nvSpPr>
        <p:spPr>
          <a:xfrm>
            <a:off x="7712750" y="4026456"/>
            <a:ext cx="267938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Errores Detectados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712750" y="4483656"/>
            <a:ext cx="589692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Frecuencia de fallos o imprecisiones en las interacciones.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3790" y="5343406"/>
            <a:ext cx="3260765" cy="401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Instrumentación Clave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793790" y="6051471"/>
            <a:ext cx="1304282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Logs Estructurados (JSON):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Para un análisis detallado y automatizado de las interacciones.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93790" y="6449616"/>
            <a:ext cx="1304282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 Técnico: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Interfaz visual para monitorear el desempeño del agente en tiempo real.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93790" y="6847761"/>
            <a:ext cx="1304282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Alertas Proactivas: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Notificaciones automáticas ante desviaciones o problemas críticos.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6756"/>
            <a:ext cx="10369868" cy="706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Seguridad y Ética: Pilares Fundamentales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318623" y="2103834"/>
            <a:ext cx="2828211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Control de Acceso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586395"/>
            <a:ext cx="4353044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Basado en roles del personal del taller para proteger la información.</a:t>
            </a:r>
            <a:endParaRPr lang="en-US" sz="16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6834" y="2515314"/>
            <a:ext cx="4336733" cy="4336733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34507" y="3609380"/>
            <a:ext cx="303014" cy="3030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483566" y="1854637"/>
            <a:ext cx="3431738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Enmascaramiento de Datos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483566" y="2337197"/>
            <a:ext cx="4353044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Protección de información sensible mediante técnicas de anonimización.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6834" y="2515314"/>
            <a:ext cx="4336733" cy="4336733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92722" y="3464957"/>
            <a:ext cx="303014" cy="30301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483566" y="3349943"/>
            <a:ext cx="2828211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Auditoría Completa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483566" y="3832503"/>
            <a:ext cx="4353044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Registro y seguimiento de todas las consultas para trazabilidad y seguridad.</a:t>
            </a:r>
            <a:endParaRPr lang="en-US" sz="16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6834" y="2515314"/>
            <a:ext cx="4336733" cy="4336733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03049" y="4124087"/>
            <a:ext cx="303014" cy="30301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483566" y="4845248"/>
            <a:ext cx="3184088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Política Anti-Alucinación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9483566" y="5327809"/>
            <a:ext cx="4353044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Garantizada mediante la implementación rigurosa del pipeline RAG.</a:t>
            </a:r>
            <a:endParaRPr lang="en-US" sz="16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46834" y="2515314"/>
            <a:ext cx="4336733" cy="4336733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130659" y="5090398"/>
            <a:ext cx="303014" cy="303014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9483566" y="6340554"/>
            <a:ext cx="2828211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Transparencia</a:t>
            </a:r>
            <a:endParaRPr lang="en-US" sz="2200" dirty="0"/>
          </a:p>
        </p:txBody>
      </p:sp>
      <p:sp>
        <p:nvSpPr>
          <p:cNvPr id="20" name="Text 10"/>
          <p:cNvSpPr/>
          <p:nvPr/>
        </p:nvSpPr>
        <p:spPr>
          <a:xfrm>
            <a:off x="9483566" y="6823115"/>
            <a:ext cx="4353044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Claridad en el funcionamiento y las limitaciones del agente.</a:t>
            </a:r>
            <a:endParaRPr lang="en-US" sz="165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46834" y="2515314"/>
            <a:ext cx="4336733" cy="4336733"/>
          </a:xfrm>
          <a:prstGeom prst="rect">
            <a:avLst/>
          </a:prstGeom>
        </p:spPr>
      </p:pic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329964" y="5636300"/>
            <a:ext cx="303014" cy="303014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2318623" y="6091238"/>
            <a:ext cx="2828211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Privacidad</a:t>
            </a:r>
            <a:endParaRPr lang="en-US" sz="2200" dirty="0"/>
          </a:p>
        </p:txBody>
      </p:sp>
      <p:sp>
        <p:nvSpPr>
          <p:cNvPr id="24" name="Text 12"/>
          <p:cNvSpPr/>
          <p:nvPr/>
        </p:nvSpPr>
        <p:spPr>
          <a:xfrm>
            <a:off x="793790" y="6573798"/>
            <a:ext cx="4353044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Compromiso con la protección de datos personales y operativos.</a:t>
            </a:r>
            <a:endParaRPr lang="en-US" sz="1650" dirty="0"/>
          </a:p>
        </p:txBody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46834" y="2515314"/>
            <a:ext cx="4336733" cy="4336733"/>
          </a:xfrm>
          <a:prstGeom prst="rect">
            <a:avLst/>
          </a:prstGeom>
        </p:spPr>
      </p:pic>
      <p:pic>
        <p:nvPicPr>
          <p:cNvPr id="26" name="Image 11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04015" y="5350669"/>
            <a:ext cx="303014" cy="303014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2318623" y="3925133"/>
            <a:ext cx="2828211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Reducción de Riesgos</a:t>
            </a:r>
            <a:endParaRPr lang="en-US" sz="2200" dirty="0"/>
          </a:p>
        </p:txBody>
      </p:sp>
      <p:sp>
        <p:nvSpPr>
          <p:cNvPr id="28" name="Text 14"/>
          <p:cNvSpPr/>
          <p:nvPr/>
        </p:nvSpPr>
        <p:spPr>
          <a:xfrm>
            <a:off x="793790" y="4407694"/>
            <a:ext cx="4353044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Diseño para minimizar errores y mejorar la seguridad en los procedimientos mecánicos.</a:t>
            </a:r>
            <a:endParaRPr lang="en-US" sz="1650" dirty="0"/>
          </a:p>
        </p:txBody>
      </p:sp>
      <p:pic>
        <p:nvPicPr>
          <p:cNvPr id="29" name="Image 12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46834" y="2515314"/>
            <a:ext cx="4336733" cy="4336733"/>
          </a:xfrm>
          <a:prstGeom prst="rect">
            <a:avLst/>
          </a:prstGeom>
        </p:spPr>
      </p:pic>
      <p:pic>
        <p:nvPicPr>
          <p:cNvPr id="30" name="Image 13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050042" y="4448651"/>
            <a:ext cx="303014" cy="3030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20190"/>
            <a:ext cx="5159335" cy="63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Conclusión y Reflexión</a:t>
            </a:r>
            <a:endParaRPr lang="en-US" sz="3950" dirty="0"/>
          </a:p>
        </p:txBody>
      </p:sp>
      <p:sp>
        <p:nvSpPr>
          <p:cNvPr id="3" name="Shape 1"/>
          <p:cNvSpPr/>
          <p:nvPr/>
        </p:nvSpPr>
        <p:spPr>
          <a:xfrm>
            <a:off x="793790" y="2538293"/>
            <a:ext cx="4219099" cy="578406"/>
          </a:xfrm>
          <a:prstGeom prst="roundRect">
            <a:avLst>
              <a:gd name="adj" fmla="val 480004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2758678" y="2646759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86552" y="3309461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Eficiencia Mejorada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86552" y="3741301"/>
            <a:ext cx="3833574" cy="2775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implementación del agente inteligente ReparaYA permitió mejorar notablemente la eficiencia del taller al centralizar la información técnica y entregar respuestas precisas basadas en documentación oficial. Gracias al uso de LLM y RAG, el sistema reduce la dependencia de técnicos senior y agiliza la resolución de consultas mecánicas recurrentes.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205651" y="2538293"/>
            <a:ext cx="4219099" cy="578406"/>
          </a:xfrm>
          <a:prstGeom prst="roundRect">
            <a:avLst>
              <a:gd name="adj" fmla="val 480004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7170539" y="2646759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5398413" y="3309461"/>
            <a:ext cx="3605212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Autonomía y Desempeño Sólido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398413" y="3741301"/>
            <a:ext cx="3833574" cy="1541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Las herramientas de diagnóstico, torque y repuestos aumentan la autonomía de los mecánicos, mientras que las métricas de observabilidad muestran un desempeño sólido, con alta precisión y baja latencia.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617512" y="2538293"/>
            <a:ext cx="4219099" cy="578406"/>
          </a:xfrm>
          <a:prstGeom prst="roundRect">
            <a:avLst>
              <a:gd name="adj" fmla="val 480004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11582400" y="2646759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810274" y="3309461"/>
            <a:ext cx="2946440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Seguridad y Digitalización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810274" y="3741301"/>
            <a:ext cx="3833574" cy="2158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Además, los mecanismos de seguridad y trazabilidad aseguran un uso responsable de la IA dentro del taller. En conjunto, la solución posiciona a ReparaYA en un camino claro hacia la digitalización y establece una base sólida para futuras mejoras e integraciones tecnológicas.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2025-12-03T17:14:19Z</dcterms:created>
  <dcterms:modified xsi:type="dcterms:W3CDTF">2025-12-03T17:14:19Z</dcterms:modified>
</cp:coreProperties>
</file>